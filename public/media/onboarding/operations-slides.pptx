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1443038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535781"/>
            <a:ext cx="10144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spc="-1" kern="0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400" b="1" spc="-1" kern="0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8246567" y="415231"/>
            <a:ext cx="455414" cy="45541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00125" y="1143000"/>
            <a:ext cx="7143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27432">
            <a:solidFill>
              <a:srgbClr val="FFFFFF">
                <a:alpha val="60000"/>
              </a:srgbClr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285875" y="1440247"/>
            <a:ext cx="6572250" cy="226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950" b="1" spc="2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OPERATIONS</a:t>
            </a:r>
            <a:r>
              <a:rPr lang="en-US" sz="4950" b="1" spc="2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950" b="1" spc="2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</a:t>
            </a:r>
            <a:r>
              <a:rPr lang="en-US" sz="4950" b="1" spc="2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CENTER</a:t>
            </a:r>
            <a:endParaRPr lang="en-US" sz="4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714375"/>
            <a:ext cx="52578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28688"/>
            <a:ext cx="44005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Onboarding Objective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71500" y="2057400"/>
            <a:ext cx="8001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session, participants will: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1500" y="2618184"/>
            <a:ext cx="800100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role and functions of the Operations Control Centre (OCC).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" y="3076780"/>
            <a:ext cx="800100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an overview of the end-to-end operational process.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" y="3535375"/>
            <a:ext cx="800100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OCC roles, responsibilities.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0" y="3993970"/>
            <a:ext cx="800100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safety, compliance, and risk management principles.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1500" y="4452565"/>
            <a:ext cx="8001000" cy="56000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Appreciate the importance of teamwork, accurate information, and timely decision-making.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89622"/>
            <a:ext cx="100013" cy="139973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8217"/>
            <a:ext cx="100013" cy="139973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06812"/>
            <a:ext cx="100013" cy="139973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65408"/>
            <a:ext cx="100013" cy="13997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4003"/>
            <a:ext cx="100013" cy="139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6286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is an Operations</a:t>
            </a:r>
            <a:r>
              <a:rPr lang="en-US" sz="33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3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Control Centre?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2434568"/>
            <a:ext cx="628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600" b="1" dirty="0">
                <a:solidFill>
                  <a:srgbClr val="00B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OCC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central operational function responsible 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coordinating, monitoring and supporting flight 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while exercising operational control in 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accordance with the operator's approved procedures and 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applicable regulations.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571500"/>
            <a:ext cx="9144000" cy="1125141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57250"/>
            <a:ext cx="80010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WHO WORKS IN THE OCC?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2152055" y="2268141"/>
            <a:ext cx="4839891" cy="360034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Director of Flight Operations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52055" y="2842487"/>
            <a:ext cx="4839891" cy="360034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Operations/Flight Dispatchers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52055" y="3416833"/>
            <a:ext cx="4839891" cy="360034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OCC Manager/Supervisor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152055" y="3991180"/>
            <a:ext cx="4839891" cy="360034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Flight Crew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152055" y="4565526"/>
            <a:ext cx="4839891" cy="360034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Ground Operations</a:t>
            </a:r>
            <a:endParaRPr lang="en-US" sz="2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55" y="2375297"/>
            <a:ext cx="128588" cy="1542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055" y="2949643"/>
            <a:ext cx="128588" cy="1542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055" y="3523990"/>
            <a:ext cx="128588" cy="15426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055" y="4098336"/>
            <a:ext cx="128588" cy="15426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055" y="4672682"/>
            <a:ext cx="128588" cy="154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PLANNING TOOLS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71500" y="1428750"/>
            <a:ext cx="3786188" cy="3429000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406" y="1714500"/>
            <a:ext cx="714375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71650" y="2500313"/>
            <a:ext cx="13858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Skylegs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857250" y="3057525"/>
            <a:ext cx="32146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flight management platform for scheduling, dispatch, and operational control.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786313" y="1428750"/>
            <a:ext cx="3786188" cy="3429000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38" y="1714500"/>
            <a:ext cx="642938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13227" y="2500313"/>
            <a:ext cx="173235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ForeFlight</a:t>
            </a:r>
            <a:endParaRPr lang="en-US" sz="2450" dirty="0"/>
          </a:p>
        </p:txBody>
      </p:sp>
      <p:sp>
        <p:nvSpPr>
          <p:cNvPr id="12" name="Text 7"/>
          <p:cNvSpPr/>
          <p:nvPr/>
        </p:nvSpPr>
        <p:spPr>
          <a:xfrm>
            <a:off x="5072063" y="3057525"/>
            <a:ext cx="32146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integrated flight application for charts, weather, and precise route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4529138" cy="7000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71500"/>
            <a:ext cx="39576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Monitoring Tools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-900000">
            <a:off x="2286000" y="1000125"/>
            <a:ext cx="857250" cy="85725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2063"/>
            <a:ext cx="9144000" cy="71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42875"/>
            <a:ext cx="173235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CONTENT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804547" y="244673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128713"/>
            <a:ext cx="800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Flight Dispatch Release Process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571500" y="1900238"/>
            <a:ext cx="8001000" cy="3074436"/>
          </a:xfrm>
          <a:prstGeom prst="rect">
            <a:avLst/>
          </a:prstGeom>
          <a:solidFill>
            <a:srgbClr val="F8F9FA"/>
          </a:solidFill>
          <a:ln w="18288">
            <a:solidFill>
              <a:srgbClr val="1A23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0125" y="2043113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operational requirements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0125" y="2437414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flight documentation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0125" y="2831716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Dispatcher–flight crew coordination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0125" y="3226017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approvals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0125" y="3620319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release/dispatch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0125" y="4014620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Pre-departure briefing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0125" y="4408922"/>
            <a:ext cx="7143750" cy="280002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Flight Briefing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114550"/>
            <a:ext cx="100013" cy="139973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508852"/>
            <a:ext cx="100013" cy="139973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903153"/>
            <a:ext cx="100013" cy="139973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297455"/>
            <a:ext cx="100013" cy="139973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691756"/>
            <a:ext cx="100013" cy="139973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086058"/>
            <a:ext cx="100013" cy="139973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4480359"/>
            <a:ext cx="100013" cy="139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978694" y="571500"/>
            <a:ext cx="7186613" cy="87153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BCD4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1428750" y="785813"/>
            <a:ext cx="6286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Communication &amp; Coordination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357313" y="1828800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needs to know what?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7313" y="2271713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external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57313" y="2714625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handovers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7313" y="3157538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Dispatcher-crew communication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57313" y="3600450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OCC–maintenance communication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57313" y="4043363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OCC–ground/airport coordination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57313" y="4486275"/>
            <a:ext cx="6429375" cy="300038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Clear, concise and professional communication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914525"/>
            <a:ext cx="114300" cy="15995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3" y="2357438"/>
            <a:ext cx="114300" cy="159953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2800350"/>
            <a:ext cx="114300" cy="159953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313" y="3243263"/>
            <a:ext cx="114300" cy="159953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313" y="3686175"/>
            <a:ext cx="114300" cy="159953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313" y="4129088"/>
            <a:ext cx="114300" cy="159953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313" y="4572000"/>
            <a:ext cx="114300" cy="1599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Regulatory Compliance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1014413" y="1528763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ICAO requirements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14413" y="1917371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Nigerian Civil Aviation Authority requirements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14413" y="2305980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Operations Manual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4413" y="2694589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Dispatch/OCC procedures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14413" y="3083198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MEL/CDL considerations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14413" y="3471807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Record-keeping requirements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14413" y="3860416"/>
            <a:ext cx="7115175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of following approved procedures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3" y="1600200"/>
            <a:ext cx="100013" cy="129927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3" y="1988809"/>
            <a:ext cx="100013" cy="129927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2377418"/>
            <a:ext cx="100013" cy="129927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413" y="2766027"/>
            <a:ext cx="100013" cy="129927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13" y="3154635"/>
            <a:ext cx="100013" cy="129927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3" y="3543244"/>
            <a:ext cx="100013" cy="129927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413" y="3931853"/>
            <a:ext cx="100013" cy="1299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4. Content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742950"/>
            <a:ext cx="82867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Roles, Responsibilities &amp; Accountability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1500" y="1714500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assigned responsibilities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71500" y="2074534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authority limits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1500" y="2434568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when to escalate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71500" y="2794602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procedures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1500" y="3154635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situational awareness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1500" y="3514669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your actions and decisions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71500" y="3874703"/>
            <a:ext cx="8001000" cy="274309"/>
          </a:xfrm>
          <a:prstGeom prst="rect">
            <a:avLst/>
          </a:prstGeom>
          <a:noFill/>
          <a:ln/>
        </p:spPr>
        <p:txBody>
          <a:bodyPr wrap="none" lIns="425196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the wider operation</a:t>
            </a:r>
            <a:endParaRPr lang="en-US" sz="1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57363"/>
            <a:ext cx="114300" cy="137071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7396"/>
            <a:ext cx="114300" cy="137071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7430"/>
            <a:ext cx="114300" cy="137071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7464"/>
            <a:ext cx="114300" cy="137071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97498"/>
            <a:ext cx="114300" cy="137071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57532"/>
            <a:ext cx="114300" cy="137071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17566"/>
            <a:ext cx="114300" cy="1370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 Typical Day in the OCC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571500" y="1571625"/>
            <a:ext cx="8001000" cy="2500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2410346"/>
            <a:ext cx="7143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request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planning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dispatch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departure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monitoring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operational disruption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arrival </a:t>
            </a:r>
            <a:r>
              <a:rPr lang="en-US" sz="16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→</a:t>
            </a:r>
            <a:r>
              <a:rPr lang="en-US" sz="1700" dirty="0">
                <a:solidFill>
                  <a:srgbClr val="1A23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4547" y="285750"/>
            <a:ext cx="9108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VMO</a:t>
            </a:r>
            <a:r>
              <a:rPr lang="en-US" sz="1200" b="1" dirty="0">
                <a:solidFill>
                  <a:srgbClr val="00BCD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AERO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73373" y="1357313"/>
            <a:ext cx="6597253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450" b="1" dirty="0">
                <a:solidFill>
                  <a:srgbClr val="1A237E"/>
                </a:solidFill>
                <a:latin typeface="Great Vibes" pitchFamily="34" charset="0"/>
                <a:ea typeface="Great Vibes" pitchFamily="34" charset="-122"/>
                <a:cs typeface="Great Vibes" pitchFamily="34" charset="-120"/>
              </a:rPr>
              <a:t>Thank you!</a:t>
            </a:r>
            <a:endParaRPr lang="en-US" sz="1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5929313" y="1785938"/>
            <a:ext cx="2143125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2026-08-16T11:31:42Z</dcterms:created>
  <dcterms:modified xsi:type="dcterms:W3CDTF">2026-08-16T11:31:42Z</dcterms:modified>
</cp:coreProperties>
</file>