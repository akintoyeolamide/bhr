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1024068"/>
            <a:ext cx="6096019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3" kern="0" dirty="0">
                <a:solidFill>
                  <a:srgbClr val="F59E0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EDEN EMPOWERMENT INITIATIVE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61981" y="1570565"/>
            <a:ext cx="6096019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950" b="1" dirty="0">
                <a:solidFill>
                  <a:srgbClr val="F8FAF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BUILDING</a:t>
            </a:r>
            <a:r>
              <a:rPr lang="en-US" sz="4950" b="1" dirty="0">
                <a:solidFill>
                  <a:srgbClr val="F8FAF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
</a:t>
            </a:r>
            <a:r>
              <a:rPr lang="en-US" sz="4950" b="1" dirty="0">
                <a:solidFill>
                  <a:srgbClr val="F8FAF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LASTING</a:t>
            </a:r>
            <a:r>
              <a:rPr lang="en-US" sz="4950" b="1" dirty="0">
                <a:solidFill>
                  <a:srgbClr val="F8FAF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
</a:t>
            </a:r>
            <a:r>
              <a:rPr lang="en-US" sz="4950" b="1" dirty="0">
                <a:solidFill>
                  <a:srgbClr val="F8FAF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IMPACT</a:t>
            </a:r>
            <a:endParaRPr lang="en-US" sz="4950" dirty="0"/>
          </a:p>
        </p:txBody>
      </p:sp>
      <p:sp>
        <p:nvSpPr>
          <p:cNvPr id="5" name="Text 2"/>
          <p:cNvSpPr/>
          <p:nvPr/>
        </p:nvSpPr>
        <p:spPr>
          <a:xfrm>
            <a:off x="761981" y="3799415"/>
            <a:ext cx="5715000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Social Impact Arm of Bitachon, The VMO Group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428625"/>
            <a:ext cx="7619981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750" b="1" dirty="0">
                <a:solidFill>
                  <a:srgbClr val="F59E0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WHO WE ARE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761981" y="1971675"/>
            <a:ext cx="3047981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EEI is the dedicated </a:t>
            </a:r>
            <a:r>
              <a:rPr lang="en-US" sz="1400" b="1" dirty="0">
                <a:solidFill>
                  <a:srgbClr val="F8FAF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social </a:t>
            </a:r>
            <a:r>
              <a:rPr lang="en-US" sz="1400" b="1" dirty="0">
                <a:solidFill>
                  <a:srgbClr val="F8FAF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impact arm</a:t>
            </a: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Bitachon, The </a:t>
            </a: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VMO Group.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857694" y="1971675"/>
            <a:ext cx="3524269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are committed to building </a:t>
            </a: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systems that drive </a:t>
            </a:r>
            <a:r>
              <a:rPr lang="en-US" sz="1400" b="1" dirty="0">
                <a:solidFill>
                  <a:srgbClr val="F8FAF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excellence</a:t>
            </a: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sustainable development in our </a:t>
            </a: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communities.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50981" y="285750"/>
            <a:ext cx="864394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>
                    <a:alpha val="20000"/>
                  </a:srgbClr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UN • SDGs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61981" y="428625"/>
            <a:ext cx="7619981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750" b="1" dirty="0">
                <a:solidFill>
                  <a:srgbClr val="F59E0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ALIGNED WITH</a:t>
            </a:r>
            <a:r>
              <a:rPr lang="en-US" sz="3750" b="1" dirty="0">
                <a:solidFill>
                  <a:srgbClr val="F59E0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
</a:t>
            </a:r>
            <a:r>
              <a:rPr lang="en-US" sz="3750" b="1" dirty="0">
                <a:solidFill>
                  <a:srgbClr val="F59E0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GLOBAL GOALS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1000069" y="2107406"/>
            <a:ext cx="553641" cy="1428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0350" b="1" dirty="0">
                <a:solidFill>
                  <a:srgbClr val="F59E0B">
                    <a:alpha val="50000"/>
                  </a:srgbClr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[</a:t>
            </a:r>
            <a:endParaRPr lang="en-US" sz="10350" dirty="0"/>
          </a:p>
        </p:txBody>
      </p:sp>
      <p:sp>
        <p:nvSpPr>
          <p:cNvPr id="6" name="Text 3"/>
          <p:cNvSpPr/>
          <p:nvPr/>
        </p:nvSpPr>
        <p:spPr>
          <a:xfrm>
            <a:off x="1839460" y="1998911"/>
            <a:ext cx="5464969" cy="1645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F8FAF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DRIVING GLOBAL PROGRESS THROUGH THE UN SUSTAINABLE DEVELOPMENT GOALS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7590179" y="2107406"/>
            <a:ext cx="553641" cy="1428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0350" b="1" dirty="0">
                <a:solidFill>
                  <a:srgbClr val="F59E0B">
                    <a:alpha val="50000"/>
                  </a:srgbClr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]</a:t>
            </a:r>
            <a:endParaRPr lang="en-US" sz="10350" dirty="0"/>
          </a:p>
        </p:txBody>
      </p:sp>
      <p:sp>
        <p:nvSpPr>
          <p:cNvPr id="8" name="Text 5"/>
          <p:cNvSpPr/>
          <p:nvPr/>
        </p:nvSpPr>
        <p:spPr>
          <a:xfrm>
            <a:off x="1714444" y="4073277"/>
            <a:ext cx="5715000" cy="642938"/>
          </a:xfrm>
          <a:prstGeom prst="rect">
            <a:avLst/>
          </a:prstGeom>
          <a:noFill/>
          <a:ln/>
        </p:spPr>
        <p:txBody>
          <a:bodyPr wrap="square" lIns="0" tIns="255143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work is strategically focused on creating meaningful impact by supporting initiatives that align closely with the SDGs.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428625"/>
            <a:ext cx="7619981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750" b="1" dirty="0">
                <a:solidFill>
                  <a:srgbClr val="F59E0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AREAS OF IMPACT</a:t>
            </a:r>
            <a:endParaRPr lang="en-US" sz="3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38" y="1818084"/>
            <a:ext cx="428625" cy="3429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83438" y="2414588"/>
            <a:ext cx="1438628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QUALITY</a:t>
            </a:r>
            <a:r>
              <a:rPr lang="en-US" sz="1400" b="1" dirty="0">
                <a:solidFill>
                  <a:srgbClr val="F8FAF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
</a:t>
            </a:r>
            <a:r>
              <a:rPr lang="en-US" sz="1400" b="1" dirty="0">
                <a:solidFill>
                  <a:srgbClr val="F8FAF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EDUCATION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83438" y="3057525"/>
            <a:ext cx="1438628" cy="123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Ensuring inclusive and equitable quality education and promoting lifelong learning opportunities for all.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835" y="1818084"/>
            <a:ext cx="385763" cy="3429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857835" y="2414588"/>
            <a:ext cx="1438684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POVERTY</a:t>
            </a:r>
            <a:r>
              <a:rPr lang="en-US" sz="1400" b="1" dirty="0">
                <a:solidFill>
                  <a:srgbClr val="F8FAF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
</a:t>
            </a:r>
            <a:r>
              <a:rPr lang="en-US" sz="1400" b="1" dirty="0">
                <a:solidFill>
                  <a:srgbClr val="F8FAF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REDUCTION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2857835" y="3057525"/>
            <a:ext cx="1438684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Implementing strategic initiatives to end poverty in all its forms and support vulnerable communities.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288" y="1818084"/>
            <a:ext cx="342900" cy="3429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732288" y="2414588"/>
            <a:ext cx="1438684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DECENT</a:t>
            </a:r>
            <a:r>
              <a:rPr lang="en-US" sz="1400" b="1" dirty="0">
                <a:solidFill>
                  <a:srgbClr val="F8FAF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
</a:t>
            </a:r>
            <a:r>
              <a:rPr lang="en-US" sz="1400" b="1" dirty="0">
                <a:solidFill>
                  <a:srgbClr val="F8FAF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WORK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4732288" y="3057525"/>
            <a:ext cx="1438684" cy="123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Promoting sustained, inclusive economic growth, full and productive employment, and decent work for all.</a:t>
            </a:r>
            <a:endParaRPr lang="en-US" sz="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6741" y="1818084"/>
            <a:ext cx="428625" cy="3429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606741" y="2414588"/>
            <a:ext cx="1553766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GLOBAL</a:t>
            </a:r>
            <a:r>
              <a:rPr lang="en-US" sz="1400" b="1" dirty="0">
                <a:solidFill>
                  <a:srgbClr val="F8FAF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
</a:t>
            </a:r>
            <a:r>
              <a:rPr lang="en-US" sz="1400" b="1" dirty="0">
                <a:solidFill>
                  <a:srgbClr val="F8FAF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PARTNERSHIPS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6606741" y="3057525"/>
            <a:ext cx="1553766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Strengthening the means of implementation and revitalizing global partnerships for sustainable development.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428625"/>
            <a:ext cx="6096019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750" b="1" dirty="0">
                <a:solidFill>
                  <a:srgbClr val="F59E0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EMPOWERING</a:t>
            </a:r>
            <a:r>
              <a:rPr lang="en-US" sz="3750" b="1" dirty="0">
                <a:solidFill>
                  <a:srgbClr val="F59E0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
</a:t>
            </a:r>
            <a:r>
              <a:rPr lang="en-US" sz="3750" b="1" dirty="0">
                <a:solidFill>
                  <a:srgbClr val="F59E0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COMMUNITIES</a:t>
            </a:r>
            <a:endParaRPr lang="en-US" sz="3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716" y="2071688"/>
            <a:ext cx="535781" cy="4286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1981" y="3000375"/>
            <a:ext cx="228594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spc="2" kern="0" dirty="0">
                <a:solidFill>
                  <a:srgbClr val="F59E0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LASTING CHANGE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4095713" y="1857375"/>
            <a:ext cx="4286194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F8FAF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CREATING OPPORTUNITIES </a:t>
            </a:r>
            <a:r>
              <a:rPr lang="en-US" sz="2100" b="1" dirty="0">
                <a:solidFill>
                  <a:srgbClr val="F8FAF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FOR </a:t>
            </a:r>
            <a:r>
              <a:rPr lang="en-US" sz="2100" b="1" dirty="0">
                <a:solidFill>
                  <a:srgbClr val="F59E0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MEASURABLE</a:t>
            </a:r>
            <a:r>
              <a:rPr lang="en-US" sz="2100" b="1" dirty="0">
                <a:solidFill>
                  <a:srgbClr val="F8FAF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 GROWTH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4095713" y="2806043"/>
            <a:ext cx="4286194" cy="11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are passionate about empowering individuals and supporting communities to create lasting, positive change for all stakeholders.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428625"/>
            <a:ext cx="6096019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750" b="1" dirty="0">
                <a:solidFill>
                  <a:srgbClr val="F59E0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IMPACT BEYOND</a:t>
            </a:r>
            <a:r>
              <a:rPr lang="en-US" sz="3750" b="1" dirty="0">
                <a:solidFill>
                  <a:srgbClr val="F59E0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
</a:t>
            </a:r>
            <a:r>
              <a:rPr lang="en-US" sz="3750" b="1" dirty="0">
                <a:solidFill>
                  <a:srgbClr val="F59E0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BUSINESS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761981" y="2500313"/>
            <a:ext cx="2285944" cy="1671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True impact extends far </a:t>
            </a:r>
            <a:r>
              <a:rPr lang="en-US" sz="14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beyond corporate </a:t>
            </a:r>
            <a:r>
              <a:rPr lang="en-US" sz="14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operations. We believe in </a:t>
            </a:r>
            <a:r>
              <a:rPr lang="en-US" sz="1300" b="1" dirty="0">
                <a:solidFill>
                  <a:srgbClr val="F59E0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leveraging</a:t>
            </a:r>
            <a:r>
              <a:rPr lang="en-US" sz="14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our core </a:t>
            </a:r>
            <a:r>
              <a:rPr lang="en-US" sz="14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strengths for the greater </a:t>
            </a:r>
            <a:r>
              <a:rPr lang="en-US" sz="14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good.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095713" y="1857375"/>
            <a:ext cx="4286194" cy="990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100" b="1" dirty="0">
                <a:solidFill>
                  <a:srgbClr val="F8FAFC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MAKING A TANGIBLE DIFFERENCE THROUGH PARTNERSHIPS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4095713" y="3061711"/>
            <a:ext cx="4286194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Through EEI, we are committed to using our resources and strategic partnerships to create measurable, positive change in the world.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095713" y="4183280"/>
            <a:ext cx="1089422" cy="314325"/>
          </a:xfrm>
          <a:prstGeom prst="rect">
            <a:avLst/>
          </a:prstGeom>
          <a:noFill/>
          <a:ln/>
        </p:spPr>
        <p:txBody>
          <a:bodyPr wrap="none" lIns="170053" tIns="85090" rIns="170053" bIns="8509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>
                    <a:alpha val="70000"/>
                  </a:srgbClr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RESOURCES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328010" y="4183280"/>
            <a:ext cx="1307306" cy="314325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>
                    <a:alpha val="70000"/>
                  </a:srgbClr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PARTNERSHIPS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778191" y="4183280"/>
            <a:ext cx="1017984" cy="314325"/>
          </a:xfrm>
          <a:prstGeom prst="rect">
            <a:avLst/>
          </a:prstGeom>
          <a:noFill/>
          <a:ln/>
        </p:spPr>
        <p:txBody>
          <a:bodyPr wrap="none" lIns="170053" tIns="85090" rIns="170053" bIns="8509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>
                    <a:alpha val="70000"/>
                  </a:srgbClr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EXPERTISE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2868216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2" kern="0" dirty="0">
                <a:solidFill>
                  <a:srgbClr val="F59E0B">
                    <a:alpha val="20000"/>
                  </a:srgbClr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BITACHON • THE VMO GROUP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2884233" y="1024403"/>
            <a:ext cx="337542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4950" b="1" dirty="0">
                <a:solidFill>
                  <a:srgbClr val="F59E0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JOIN THE</a:t>
            </a:r>
            <a:r>
              <a:rPr lang="en-US" sz="4950" b="1" dirty="0">
                <a:solidFill>
                  <a:srgbClr val="F59E0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
</a:t>
            </a:r>
            <a:r>
              <a:rPr lang="en-US" sz="4950" b="1" dirty="0">
                <a:solidFill>
                  <a:srgbClr val="F59E0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JOURNEY</a:t>
            </a:r>
            <a:endParaRPr lang="en-US" sz="4950" dirty="0"/>
          </a:p>
        </p:txBody>
      </p:sp>
      <p:sp>
        <p:nvSpPr>
          <p:cNvPr id="5" name="Text 2"/>
          <p:cNvSpPr/>
          <p:nvPr/>
        </p:nvSpPr>
        <p:spPr>
          <a:xfrm>
            <a:off x="1357257" y="2624603"/>
            <a:ext cx="6429375" cy="1080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Together, we look forward to making a significant contribution to the future we are building. Welcome to the family.</a:t>
            </a:r>
            <a:endParaRPr lang="en-US" sz="1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632" y="4161904"/>
            <a:ext cx="428625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69771" y="4847704"/>
            <a:ext cx="6204347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spc="5" kern="0" dirty="0">
                <a:solidFill>
                  <a:srgbClr val="F59E0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BUILDING A SUSTAINABLE FUTURE TOGETHER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2026-08-16T11:03:06Z</dcterms:created>
  <dcterms:modified xsi:type="dcterms:W3CDTF">2026-08-16T11:03:06Z</dcterms:modified>
</cp:coreProperties>
</file>